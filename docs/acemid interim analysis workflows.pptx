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5363-3BCC-0EF7-C90F-12EFE3E4B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281AF-17E7-E286-B024-2320CED7F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AE236-D0C6-3938-264F-3C92F667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399D3-A5CC-029E-71B6-850F4EF7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BE51F-F974-7B7F-7EAB-B8F5EAE3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3056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DC82-6B40-71AF-7325-269395914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F081C-EEDB-9859-03BC-37F542792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3115F-0C4E-AA2F-68DF-11BEDAEA8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EDE6-C7B8-7EE7-DCCA-71896C79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B28D2-F163-D72B-27FB-C9273C7E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6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0432-67F2-A41C-6094-6B396D847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F7105-8246-4BF0-7D86-F56C7742C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00821-2450-DDC4-9223-049E2099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BF182-F2B3-87CE-87CD-0F4A89C5C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AA5DE-15C2-EEC0-FAA2-3E8C11ED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27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7534-D368-8EFD-CE23-842A9268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4567E-CD8D-C2D8-8E79-F8F32F7FD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5F9FA-4EFC-7EA7-313F-39CA452A2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C9776-6234-D176-3652-8C824F0B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76E12-4B2A-9A53-EA03-26D98654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7FAC1-6DC1-77F2-427E-42FBB89C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286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3BCB-84B6-C3C9-F4E6-AAEB9F8B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48F88-4BA3-F494-1060-C14C9CA8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1481B-F1B2-FC68-14A9-CB25B3441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898BD-DA42-4911-1595-66F3E172D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AFD74C-B41A-E5BD-05A8-D69E4FBF4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5F70B-7415-B958-2548-E0A40768E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CB635-2335-26A9-14D6-F08A09C9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A1B63-0644-0E8D-AFE8-1A146164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47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E6F3-747F-AD68-FC5C-0B545EBF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59105-2F85-482B-1602-B78B7BA9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6E036-F40B-3307-B2A7-193457134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800DE-C31F-9161-AE3E-FD1D17F3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788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07803-E432-2885-935C-A734EE62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CE3FFA-6172-BCCE-6A9E-747AC141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79AF1-B430-6827-2C4A-C6F84C07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32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E21A-186F-89E7-654C-870D56997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B9628-FDD2-69F1-5B2A-C19A54F9B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FBF62-B7FA-2F24-86DC-88787760C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70444-9158-011E-0C80-8E177AB2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73A33-6099-FE7E-234E-5282A2F5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16C58-B3F1-AD31-B9DA-7F890FEA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0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B2A4-19FF-48FA-E4E9-D3B0B668E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142DDC-C3D3-110A-0665-A9F47EEBF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562CE-9562-1AE6-5927-F495FE788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ED57F-E1E8-E532-69BA-EC2D4838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117AC-9EBD-AE8D-3300-E519FE6D0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4B3E9-1AF2-2851-F028-60F1DFEE8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244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A824D-75FA-79F2-CB40-B35E42EC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40100-D0E5-0475-59C2-75146661D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3875A-1DEC-BB84-9DCA-C850A9DE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D72A-4BFA-050B-379B-D8F3A55E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76F19-4FE3-C897-DF91-EA8E0228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083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5165E-712A-77CA-574C-189489624E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E29B3-AB86-6D89-4471-DA7E90573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9D026-7936-B3E6-B909-060DD639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73F44-0309-FBB6-1C7F-89163DBA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77037-B23C-D0CA-98A2-5CBCFF60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562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8FA76-685C-382B-2F9A-890BDEEC5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D9080-C6E5-A683-B872-CABF5749B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ED78B-E6C7-73DB-CEC4-153577291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04A9B-FFE6-476F-A581-4E205338EDDD}" type="datetimeFigureOut">
              <a:rPr lang="en-AU" smtClean="0"/>
              <a:t>28/01/2026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FD525-F797-E0A3-168A-C0146C431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6F61F-D8C2-9C8B-BDFD-55346BE73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775FE-D6AB-4F53-976F-0AF403BAA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331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596D434-5460-25BC-AF7B-78FF1A571EF3}"/>
              </a:ext>
            </a:extLst>
          </p:cNvPr>
          <p:cNvSpPr/>
          <p:nvPr/>
        </p:nvSpPr>
        <p:spPr>
          <a:xfrm>
            <a:off x="3093094" y="-11816"/>
            <a:ext cx="1805048" cy="6869815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026" name="Picture 2" descr="VECTRA ® WB360 avatar of a psoriasis patient captured by 3D total body... |  Download Scientific Diagram">
            <a:extLst>
              <a:ext uri="{FF2B5EF4-FFF2-40B4-BE49-F238E27FC236}">
                <a16:creationId xmlns:a16="http://schemas.microsoft.com/office/drawing/2014/main" id="{A6268B9A-09FA-D309-2A94-F17A04B8C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9" y="1216758"/>
            <a:ext cx="862012" cy="110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CEMID Imaging Sites - Australian Centre of Excellence in Melanoma Imaging  &amp; Diagnosis - University of Queensland">
            <a:extLst>
              <a:ext uri="{FF2B5EF4-FFF2-40B4-BE49-F238E27FC236}">
                <a16:creationId xmlns:a16="http://schemas.microsoft.com/office/drawing/2014/main" id="{4D09B573-7A91-4866-B534-7474AC068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8371" y="2251895"/>
            <a:ext cx="2300176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FFB9042-5952-BF2D-2A1C-1B3BEE3936D8}"/>
              </a:ext>
            </a:extLst>
          </p:cNvPr>
          <p:cNvGrpSpPr/>
          <p:nvPr/>
        </p:nvGrpSpPr>
        <p:grpSpPr>
          <a:xfrm>
            <a:off x="3221165" y="111593"/>
            <a:ext cx="1543050" cy="3324225"/>
            <a:chOff x="2314575" y="104775"/>
            <a:chExt cx="1543050" cy="3324225"/>
          </a:xfrm>
        </p:grpSpPr>
        <p:pic>
          <p:nvPicPr>
            <p:cNvPr id="1028" name="Picture 4" descr="Json file - Free ui icons">
              <a:extLst>
                <a:ext uri="{FF2B5EF4-FFF2-40B4-BE49-F238E27FC236}">
                  <a16:creationId xmlns:a16="http://schemas.microsoft.com/office/drawing/2014/main" id="{8E4CA25A-D83E-03A3-80DA-52721B5BCB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0505" y="222974"/>
              <a:ext cx="537002" cy="537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Json file - Free ui icons">
              <a:extLst>
                <a:ext uri="{FF2B5EF4-FFF2-40B4-BE49-F238E27FC236}">
                  <a16:creationId xmlns:a16="http://schemas.microsoft.com/office/drawing/2014/main" id="{EC539301-668C-64F8-4AC3-D05C067294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0505" y="1063645"/>
              <a:ext cx="537002" cy="537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Json file - Free ui icons">
              <a:extLst>
                <a:ext uri="{FF2B5EF4-FFF2-40B4-BE49-F238E27FC236}">
                  <a16:creationId xmlns:a16="http://schemas.microsoft.com/office/drawing/2014/main" id="{D0AFAD44-0D5B-1418-2BF5-B4CEA840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1036" y="1904316"/>
              <a:ext cx="537002" cy="537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Json file - Free ui icons">
              <a:extLst>
                <a:ext uri="{FF2B5EF4-FFF2-40B4-BE49-F238E27FC236}">
                  <a16:creationId xmlns:a16="http://schemas.microsoft.com/office/drawing/2014/main" id="{50B32E66-43B9-C640-3121-F8DBAF19C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0505" y="2727424"/>
              <a:ext cx="537002" cy="537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6EB690-53FA-0CCD-058A-8AE463FD46A5}"/>
                </a:ext>
              </a:extLst>
            </p:cNvPr>
            <p:cNvSpPr/>
            <p:nvPr/>
          </p:nvSpPr>
          <p:spPr>
            <a:xfrm>
              <a:off x="2314575" y="104775"/>
              <a:ext cx="1543050" cy="332422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812FE32-4B16-B309-2778-C3A22FB0CCB5}"/>
              </a:ext>
            </a:extLst>
          </p:cNvPr>
          <p:cNvSpPr txBox="1"/>
          <p:nvPr/>
        </p:nvSpPr>
        <p:spPr>
          <a:xfrm>
            <a:off x="3154871" y="3516034"/>
            <a:ext cx="1762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All </a:t>
            </a:r>
            <a:r>
              <a:rPr lang="en-AU" sz="1200" b="1" u="sng" dirty="0">
                <a:solidFill>
                  <a:srgbClr val="FF0000"/>
                </a:solidFill>
              </a:rPr>
              <a:t>lesion data </a:t>
            </a:r>
            <a:r>
              <a:rPr lang="en-AU" sz="1200" dirty="0"/>
              <a:t>saved in JSON files extracted and </a:t>
            </a:r>
            <a:r>
              <a:rPr lang="en-AU" sz="1200" u="sng" dirty="0"/>
              <a:t>saved in RDMs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BD544C-B01F-BAAC-E9C9-0A70694DC774}"/>
              </a:ext>
            </a:extLst>
          </p:cNvPr>
          <p:cNvCxnSpPr/>
          <p:nvPr/>
        </p:nvCxnSpPr>
        <p:spPr>
          <a:xfrm flipV="1">
            <a:off x="1655064" y="1338964"/>
            <a:ext cx="1453896" cy="139527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026CD4-0552-8C28-BE41-5E78F90FDA14}"/>
              </a:ext>
            </a:extLst>
          </p:cNvPr>
          <p:cNvCxnSpPr>
            <a:cxnSpLocks/>
          </p:cNvCxnSpPr>
          <p:nvPr/>
        </p:nvCxnSpPr>
        <p:spPr>
          <a:xfrm>
            <a:off x="1844326" y="4762187"/>
            <a:ext cx="1264634" cy="113569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F9BAA0C-C007-460F-B5C6-82C5629F36EC}"/>
              </a:ext>
            </a:extLst>
          </p:cNvPr>
          <p:cNvSpPr txBox="1"/>
          <p:nvPr/>
        </p:nvSpPr>
        <p:spPr>
          <a:xfrm>
            <a:off x="1767923" y="1268800"/>
            <a:ext cx="106902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Script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658314-632D-B427-8008-5A36FE78E4E2}"/>
              </a:ext>
            </a:extLst>
          </p:cNvPr>
          <p:cNvSpPr txBox="1"/>
          <p:nvPr/>
        </p:nvSpPr>
        <p:spPr>
          <a:xfrm>
            <a:off x="1407620" y="5519036"/>
            <a:ext cx="106902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Script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3E23A8-5348-5729-D115-327E22B5EA77}"/>
              </a:ext>
            </a:extLst>
          </p:cNvPr>
          <p:cNvSpPr txBox="1"/>
          <p:nvPr/>
        </p:nvSpPr>
        <p:spPr>
          <a:xfrm>
            <a:off x="6096000" y="4006296"/>
            <a:ext cx="176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Assigned: Adam, Dilki, Chantal</a:t>
            </a:r>
          </a:p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Data: Image tiles from JSON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07EFF3-70A9-6FDE-2A82-B1D516B71B38}"/>
              </a:ext>
            </a:extLst>
          </p:cNvPr>
          <p:cNvSpPr txBox="1"/>
          <p:nvPr/>
        </p:nvSpPr>
        <p:spPr>
          <a:xfrm>
            <a:off x="756745" y="5832611"/>
            <a:ext cx="2396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Assigned: Adam</a:t>
            </a:r>
          </a:p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AU" sz="1200" dirty="0" err="1">
                <a:solidFill>
                  <a:schemeClr val="bg2">
                    <a:lumMod val="75000"/>
                  </a:schemeClr>
                </a:solidFill>
              </a:rPr>
              <a:t>Zongyuan’s</a:t>
            </a:r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 team</a:t>
            </a:r>
          </a:p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Data: Raw 2D images</a:t>
            </a:r>
          </a:p>
        </p:txBody>
      </p:sp>
      <p:pic>
        <p:nvPicPr>
          <p:cNvPr id="1032" name="Picture 8" descr="Sam Kahler - Student at The University of Queensland | LinkedIn">
            <a:extLst>
              <a:ext uri="{FF2B5EF4-FFF2-40B4-BE49-F238E27FC236}">
                <a16:creationId xmlns:a16="http://schemas.microsoft.com/office/drawing/2014/main" id="{0F33E42B-D0E1-FAF1-C06D-47BAB5DE11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0"/>
          <a:stretch>
            <a:fillRect/>
          </a:stretch>
        </p:blipFill>
        <p:spPr bwMode="auto">
          <a:xfrm>
            <a:off x="3292581" y="4464580"/>
            <a:ext cx="1431417" cy="130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BFD23C2-306F-7163-D00C-F1F4D0CA0109}"/>
              </a:ext>
            </a:extLst>
          </p:cNvPr>
          <p:cNvSpPr txBox="1"/>
          <p:nvPr/>
        </p:nvSpPr>
        <p:spPr>
          <a:xfrm>
            <a:off x="3154871" y="5796035"/>
            <a:ext cx="176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u="sng" dirty="0">
                <a:solidFill>
                  <a:srgbClr val="FF0000"/>
                </a:solidFill>
              </a:rPr>
              <a:t>Photodamage data</a:t>
            </a:r>
            <a:r>
              <a:rPr lang="en-AU" sz="1200" dirty="0"/>
              <a:t> in csv files</a:t>
            </a:r>
          </a:p>
          <a:p>
            <a:pPr algn="ctr"/>
            <a:r>
              <a:rPr lang="en-AU" sz="1200" dirty="0"/>
              <a:t>extracted using the AI and </a:t>
            </a:r>
            <a:r>
              <a:rPr lang="en-AU" sz="1200" u="sng" dirty="0"/>
              <a:t>saved in RDMs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47A2C-1D68-8E50-6832-4B71884D07C8}"/>
              </a:ext>
            </a:extLst>
          </p:cNvPr>
          <p:cNvSpPr/>
          <p:nvPr/>
        </p:nvSpPr>
        <p:spPr>
          <a:xfrm>
            <a:off x="3252366" y="4413023"/>
            <a:ext cx="1511849" cy="233338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1A6178-E370-4CCA-B821-25DEBF700912}"/>
              </a:ext>
            </a:extLst>
          </p:cNvPr>
          <p:cNvSpPr/>
          <p:nvPr/>
        </p:nvSpPr>
        <p:spPr>
          <a:xfrm>
            <a:off x="-100704" y="979301"/>
            <a:ext cx="1517713" cy="4465690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18DE91-B2E7-253F-076E-8D840D1A75D3}"/>
              </a:ext>
            </a:extLst>
          </p:cNvPr>
          <p:cNvSpPr txBox="1"/>
          <p:nvPr/>
        </p:nvSpPr>
        <p:spPr>
          <a:xfrm rot="16200000">
            <a:off x="-1695737" y="1861845"/>
            <a:ext cx="65044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>
                <a:solidFill>
                  <a:srgbClr val="FF0000"/>
                </a:solidFill>
              </a:rPr>
              <a:t>Sensitive data – handled by sites individually</a:t>
            </a:r>
            <a:endParaRPr lang="en-AU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6F67DB-A29D-C822-E12E-9F1044EB2CF4}"/>
              </a:ext>
            </a:extLst>
          </p:cNvPr>
          <p:cNvSpPr txBox="1"/>
          <p:nvPr/>
        </p:nvSpPr>
        <p:spPr>
          <a:xfrm rot="16200000">
            <a:off x="1762673" y="2174320"/>
            <a:ext cx="6504495" cy="27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Deidentified less sensitive data – Available for data analysis</a:t>
            </a:r>
            <a:endParaRPr lang="en-AU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8B7AC3-4D13-4309-55D0-0534B43029C6}"/>
              </a:ext>
            </a:extLst>
          </p:cNvPr>
          <p:cNvSpPr txBox="1"/>
          <p:nvPr/>
        </p:nvSpPr>
        <p:spPr>
          <a:xfrm>
            <a:off x="6568468" y="351295"/>
            <a:ext cx="1332046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u="sng" dirty="0"/>
              <a:t>Naevus data</a:t>
            </a:r>
          </a:p>
          <a:p>
            <a:pPr algn="ctr"/>
            <a:r>
              <a:rPr lang="en-AU" sz="1200" dirty="0"/>
              <a:t>Naevus counts</a:t>
            </a:r>
          </a:p>
          <a:p>
            <a:pPr algn="ctr"/>
            <a:r>
              <a:rPr lang="en-AU" sz="1200" dirty="0"/>
              <a:t>Naevus size</a:t>
            </a:r>
          </a:p>
          <a:p>
            <a:pPr algn="ctr"/>
            <a:endParaRPr lang="en-AU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3A93C3-6880-B7E3-F804-1D23B7ABD1B3}"/>
              </a:ext>
            </a:extLst>
          </p:cNvPr>
          <p:cNvSpPr txBox="1"/>
          <p:nvPr/>
        </p:nvSpPr>
        <p:spPr>
          <a:xfrm>
            <a:off x="6528081" y="5288203"/>
            <a:ext cx="1531557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u="sng" dirty="0"/>
              <a:t>Photodamage data</a:t>
            </a:r>
          </a:p>
          <a:p>
            <a:pPr algn="ctr"/>
            <a:r>
              <a:rPr lang="en-AU" sz="1200" dirty="0"/>
              <a:t>Score per body site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8E5600-D8F2-06A0-055B-147E4C89FE64}"/>
              </a:ext>
            </a:extLst>
          </p:cNvPr>
          <p:cNvCxnSpPr>
            <a:cxnSpLocks/>
          </p:cNvCxnSpPr>
          <p:nvPr/>
        </p:nvCxnSpPr>
        <p:spPr>
          <a:xfrm>
            <a:off x="5302252" y="665852"/>
            <a:ext cx="1059099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CD5F713-A87E-9035-0301-DD4543668EAB}"/>
              </a:ext>
            </a:extLst>
          </p:cNvPr>
          <p:cNvCxnSpPr>
            <a:cxnSpLocks/>
          </p:cNvCxnSpPr>
          <p:nvPr/>
        </p:nvCxnSpPr>
        <p:spPr>
          <a:xfrm>
            <a:off x="5302253" y="5444991"/>
            <a:ext cx="1059099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8987FF-C75C-A2C0-F9AD-3EFC16299433}"/>
              </a:ext>
            </a:extLst>
          </p:cNvPr>
          <p:cNvCxnSpPr>
            <a:cxnSpLocks/>
          </p:cNvCxnSpPr>
          <p:nvPr/>
        </p:nvCxnSpPr>
        <p:spPr>
          <a:xfrm>
            <a:off x="5197059" y="3930900"/>
            <a:ext cx="343566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2CC9C2C-3089-A631-A709-87C12345982C}"/>
              </a:ext>
            </a:extLst>
          </p:cNvPr>
          <p:cNvSpPr txBox="1"/>
          <p:nvPr/>
        </p:nvSpPr>
        <p:spPr>
          <a:xfrm>
            <a:off x="6380377" y="3548369"/>
            <a:ext cx="106902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Script 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91BE38-6D67-364F-C073-CA904E94BA89}"/>
              </a:ext>
            </a:extLst>
          </p:cNvPr>
          <p:cNvSpPr txBox="1"/>
          <p:nvPr/>
        </p:nvSpPr>
        <p:spPr>
          <a:xfrm>
            <a:off x="6056080" y="2091129"/>
            <a:ext cx="176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Assigned: Dilki, Adam</a:t>
            </a:r>
          </a:p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Data: Lesion tiles and </a:t>
            </a:r>
            <a:r>
              <a:rPr lang="en-AU" sz="1200" dirty="0" err="1">
                <a:solidFill>
                  <a:schemeClr val="bg2">
                    <a:lumMod val="75000"/>
                  </a:schemeClr>
                </a:solidFill>
              </a:rPr>
              <a:t>x,y,z</a:t>
            </a:r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 coordinates</a:t>
            </a:r>
          </a:p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from JSON files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A4654E-0E28-D1F2-6333-B71274BB6C6B}"/>
              </a:ext>
            </a:extLst>
          </p:cNvPr>
          <p:cNvCxnSpPr>
            <a:cxnSpLocks/>
          </p:cNvCxnSpPr>
          <p:nvPr/>
        </p:nvCxnSpPr>
        <p:spPr>
          <a:xfrm>
            <a:off x="5157139" y="2015733"/>
            <a:ext cx="343566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3785FB7-83B2-A9AF-0550-B85DA06AABB9}"/>
              </a:ext>
            </a:extLst>
          </p:cNvPr>
          <p:cNvSpPr txBox="1"/>
          <p:nvPr/>
        </p:nvSpPr>
        <p:spPr>
          <a:xfrm>
            <a:off x="6340457" y="1633202"/>
            <a:ext cx="106902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Script 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BFF3E9-76AA-97C9-F4E0-DA81C6F82613}"/>
              </a:ext>
            </a:extLst>
          </p:cNvPr>
          <p:cNvSpPr txBox="1"/>
          <p:nvPr/>
        </p:nvSpPr>
        <p:spPr>
          <a:xfrm>
            <a:off x="8829436" y="1607465"/>
            <a:ext cx="1332046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Spatial distribution </a:t>
            </a:r>
          </a:p>
          <a:p>
            <a:pPr algn="ctr"/>
            <a:r>
              <a:rPr lang="en-AU" sz="1200" dirty="0"/>
              <a:t>data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EE80BD-E2E8-A510-8695-4647878508F1}"/>
              </a:ext>
            </a:extLst>
          </p:cNvPr>
          <p:cNvSpPr txBox="1"/>
          <p:nvPr/>
        </p:nvSpPr>
        <p:spPr>
          <a:xfrm>
            <a:off x="8829436" y="3694932"/>
            <a:ext cx="1332046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Skin </a:t>
            </a:r>
          </a:p>
          <a:p>
            <a:pPr algn="ctr"/>
            <a:r>
              <a:rPr lang="en-AU" sz="1200" dirty="0"/>
              <a:t>colour</a:t>
            </a:r>
          </a:p>
          <a:p>
            <a:pPr algn="ctr"/>
            <a:r>
              <a:rPr lang="en-AU" sz="1200" dirty="0"/>
              <a:t>data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2503DF-B544-F0C9-6717-126E154A804B}"/>
              </a:ext>
            </a:extLst>
          </p:cNvPr>
          <p:cNvSpPr txBox="1"/>
          <p:nvPr/>
        </p:nvSpPr>
        <p:spPr>
          <a:xfrm>
            <a:off x="1105015" y="770112"/>
            <a:ext cx="23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Assigned: Adam</a:t>
            </a:r>
          </a:p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Data: 3D images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24E230-CE70-0F1D-3484-8CED9054E420}"/>
              </a:ext>
            </a:extLst>
          </p:cNvPr>
          <p:cNvSpPr txBox="1"/>
          <p:nvPr/>
        </p:nvSpPr>
        <p:spPr>
          <a:xfrm>
            <a:off x="6874968" y="82385"/>
            <a:ext cx="6504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800" dirty="0"/>
              <a:t>Image related data extraction workflow</a:t>
            </a:r>
          </a:p>
        </p:txBody>
      </p:sp>
    </p:spTree>
    <p:extLst>
      <p:ext uri="{BB962C8B-B14F-4D97-AF65-F5344CB8AC3E}">
        <p14:creationId xmlns:p14="http://schemas.microsoft.com/office/powerpoint/2010/main" val="294723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C5240-252B-0CF6-1A0F-D9A1BB00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565B08E-C7C3-8F0A-B595-99C7FDBB6095}"/>
              </a:ext>
            </a:extLst>
          </p:cNvPr>
          <p:cNvSpPr/>
          <p:nvPr/>
        </p:nvSpPr>
        <p:spPr>
          <a:xfrm>
            <a:off x="3093094" y="-11816"/>
            <a:ext cx="1805048" cy="6869815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030" name="Picture 6" descr="ACEMID Imaging Sites - Australian Centre of Excellence in Melanoma Imaging  &amp; Diagnosis - University of Queensland">
            <a:extLst>
              <a:ext uri="{FF2B5EF4-FFF2-40B4-BE49-F238E27FC236}">
                <a16:creationId xmlns:a16="http://schemas.microsoft.com/office/drawing/2014/main" id="{68427FFF-3B70-3BD4-CB13-2D6529425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8371" y="2251895"/>
            <a:ext cx="2300176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640251-7F3B-8BDF-7B69-501CDFD6D5BA}"/>
              </a:ext>
            </a:extLst>
          </p:cNvPr>
          <p:cNvSpPr/>
          <p:nvPr/>
        </p:nvSpPr>
        <p:spPr>
          <a:xfrm>
            <a:off x="3221165" y="111593"/>
            <a:ext cx="1543050" cy="33242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86CB5F-22D2-16A1-FB99-333AEF33DF61}"/>
              </a:ext>
            </a:extLst>
          </p:cNvPr>
          <p:cNvSpPr txBox="1"/>
          <p:nvPr/>
        </p:nvSpPr>
        <p:spPr>
          <a:xfrm>
            <a:off x="3130161" y="1481823"/>
            <a:ext cx="176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All </a:t>
            </a:r>
            <a:r>
              <a:rPr lang="en-AU" sz="1200" b="1" u="sng" dirty="0">
                <a:solidFill>
                  <a:srgbClr val="FF0000"/>
                </a:solidFill>
              </a:rPr>
              <a:t>baseline characteristics </a:t>
            </a:r>
            <a:r>
              <a:rPr lang="en-AU" sz="1200" dirty="0"/>
              <a:t>saved as csv files extracted and </a:t>
            </a:r>
            <a:r>
              <a:rPr lang="en-AU" sz="1200" u="sng" dirty="0"/>
              <a:t>saved in RDMs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E14397-0A47-BAE0-610E-76BC64D01551}"/>
              </a:ext>
            </a:extLst>
          </p:cNvPr>
          <p:cNvCxnSpPr>
            <a:cxnSpLocks/>
          </p:cNvCxnSpPr>
          <p:nvPr/>
        </p:nvCxnSpPr>
        <p:spPr>
          <a:xfrm flipV="1">
            <a:off x="1655064" y="1897321"/>
            <a:ext cx="1360486" cy="83692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1AB9B9-75B7-D367-C258-C54B63B1CEC5}"/>
              </a:ext>
            </a:extLst>
          </p:cNvPr>
          <p:cNvCxnSpPr>
            <a:cxnSpLocks/>
          </p:cNvCxnSpPr>
          <p:nvPr/>
        </p:nvCxnSpPr>
        <p:spPr>
          <a:xfrm>
            <a:off x="1844326" y="4762187"/>
            <a:ext cx="1171224" cy="41124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DA3A863-B5FE-3030-3E26-66C649B52AA7}"/>
              </a:ext>
            </a:extLst>
          </p:cNvPr>
          <p:cNvSpPr txBox="1"/>
          <p:nvPr/>
        </p:nvSpPr>
        <p:spPr>
          <a:xfrm>
            <a:off x="1731252" y="1682158"/>
            <a:ext cx="1069023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Script 5/ Instructions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AB8155-7736-0913-2CB1-AFB4C7F36DE3}"/>
              </a:ext>
            </a:extLst>
          </p:cNvPr>
          <p:cNvSpPr txBox="1"/>
          <p:nvPr/>
        </p:nvSpPr>
        <p:spPr>
          <a:xfrm>
            <a:off x="1756434" y="5288851"/>
            <a:ext cx="1069023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Script 6/ Instructions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6364A-7125-39C3-6142-0A9250B9BDE3}"/>
              </a:ext>
            </a:extLst>
          </p:cNvPr>
          <p:cNvSpPr txBox="1"/>
          <p:nvPr/>
        </p:nvSpPr>
        <p:spPr>
          <a:xfrm>
            <a:off x="1410653" y="978119"/>
            <a:ext cx="1762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Assigned: Nayomi, State Managers, MASK</a:t>
            </a:r>
          </a:p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Data: Questionnaire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9AD4ED-79D4-4C7A-5539-093DBFAF9796}"/>
              </a:ext>
            </a:extLst>
          </p:cNvPr>
          <p:cNvSpPr txBox="1"/>
          <p:nvPr/>
        </p:nvSpPr>
        <p:spPr>
          <a:xfrm>
            <a:off x="3164245" y="5241029"/>
            <a:ext cx="1762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u="sng" dirty="0">
                <a:solidFill>
                  <a:srgbClr val="FF0000"/>
                </a:solidFill>
              </a:rPr>
              <a:t>Events in cohort</a:t>
            </a:r>
            <a:r>
              <a:rPr lang="en-AU" sz="1200" dirty="0"/>
              <a:t> </a:t>
            </a:r>
          </a:p>
          <a:p>
            <a:pPr algn="ctr"/>
            <a:r>
              <a:rPr lang="en-AU" sz="1200" dirty="0"/>
              <a:t>Saved as csv files</a:t>
            </a:r>
          </a:p>
          <a:p>
            <a:pPr algn="ctr"/>
            <a:r>
              <a:rPr lang="en-AU" sz="1200"/>
              <a:t>and </a:t>
            </a:r>
            <a:r>
              <a:rPr lang="en-AU" sz="1200" u="sng" dirty="0"/>
              <a:t>saved in RDMs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439CC2-9C21-5E6E-CA80-9525AC1B255F}"/>
              </a:ext>
            </a:extLst>
          </p:cNvPr>
          <p:cNvSpPr/>
          <p:nvPr/>
        </p:nvSpPr>
        <p:spPr>
          <a:xfrm>
            <a:off x="3252366" y="5016901"/>
            <a:ext cx="1511849" cy="13830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44A00F-FBF6-E638-719A-049A784E96EC}"/>
              </a:ext>
            </a:extLst>
          </p:cNvPr>
          <p:cNvSpPr txBox="1"/>
          <p:nvPr/>
        </p:nvSpPr>
        <p:spPr>
          <a:xfrm rot="16200000">
            <a:off x="-1716210" y="1898104"/>
            <a:ext cx="65044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Sensitive data – handled by sites individually</a:t>
            </a:r>
            <a:endParaRPr lang="en-AU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A2C672-CCB0-0C3A-2407-CD11F242109D}"/>
              </a:ext>
            </a:extLst>
          </p:cNvPr>
          <p:cNvSpPr txBox="1"/>
          <p:nvPr/>
        </p:nvSpPr>
        <p:spPr>
          <a:xfrm rot="16200000">
            <a:off x="1762673" y="2174320"/>
            <a:ext cx="6504495" cy="27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Deidentified less sensitive data – Available for data analysis</a:t>
            </a:r>
            <a:endParaRPr lang="en-AU" sz="12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1C914F7-EE49-1015-3588-DBB082E15810}"/>
              </a:ext>
            </a:extLst>
          </p:cNvPr>
          <p:cNvCxnSpPr>
            <a:cxnSpLocks/>
          </p:cNvCxnSpPr>
          <p:nvPr/>
        </p:nvCxnSpPr>
        <p:spPr>
          <a:xfrm>
            <a:off x="5153421" y="2461876"/>
            <a:ext cx="719478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1208EE-46B6-1055-6CA3-F1A60E57F9A8}"/>
              </a:ext>
            </a:extLst>
          </p:cNvPr>
          <p:cNvCxnSpPr>
            <a:cxnSpLocks/>
          </p:cNvCxnSpPr>
          <p:nvPr/>
        </p:nvCxnSpPr>
        <p:spPr>
          <a:xfrm flipV="1">
            <a:off x="5316718" y="5874904"/>
            <a:ext cx="668751" cy="3795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50" name="Picture 2" descr="Software – REDCap">
            <a:extLst>
              <a:ext uri="{FF2B5EF4-FFF2-40B4-BE49-F238E27FC236}">
                <a16:creationId xmlns:a16="http://schemas.microsoft.com/office/drawing/2014/main" id="{51AE1832-A16F-9253-794D-472D25E50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4" y="1534979"/>
            <a:ext cx="1370790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A5183FB-2498-B005-40FA-1F3BB995A31A}"/>
              </a:ext>
            </a:extLst>
          </p:cNvPr>
          <p:cNvSpPr/>
          <p:nvPr/>
        </p:nvSpPr>
        <p:spPr>
          <a:xfrm>
            <a:off x="-100704" y="979301"/>
            <a:ext cx="1517713" cy="4465690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C0B88-2A72-6BFF-1D46-9BA53EE0BCCC}"/>
              </a:ext>
            </a:extLst>
          </p:cNvPr>
          <p:cNvSpPr txBox="1"/>
          <p:nvPr/>
        </p:nvSpPr>
        <p:spPr>
          <a:xfrm>
            <a:off x="1368036" y="5700242"/>
            <a:ext cx="176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Assigned: Nayomi, State Managers, MASK</a:t>
            </a:r>
          </a:p>
          <a:p>
            <a:pPr algn="ctr"/>
            <a:r>
              <a:rPr lang="en-AU" sz="1200" dirty="0">
                <a:solidFill>
                  <a:schemeClr val="bg2">
                    <a:lumMod val="75000"/>
                  </a:schemeClr>
                </a:solidFill>
              </a:rPr>
              <a:t>Data: Entered data from pathology reports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1B669-BB88-E691-05A2-1B4DD52EAC53}"/>
              </a:ext>
            </a:extLst>
          </p:cNvPr>
          <p:cNvSpPr txBox="1"/>
          <p:nvPr/>
        </p:nvSpPr>
        <p:spPr>
          <a:xfrm>
            <a:off x="6728437" y="504555"/>
            <a:ext cx="1284630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sng"/>
            </a:lvl1pPr>
          </a:lstStyle>
          <a:p>
            <a:r>
              <a:rPr lang="en-AU" u="none" dirty="0"/>
              <a:t>Demographics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80051-1E09-B990-516F-8166F83C89BA}"/>
              </a:ext>
            </a:extLst>
          </p:cNvPr>
          <p:cNvSpPr txBox="1"/>
          <p:nvPr/>
        </p:nvSpPr>
        <p:spPr>
          <a:xfrm>
            <a:off x="6647335" y="1234088"/>
            <a:ext cx="144683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Socioeconomic &amp; Lifestyle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D6CB78-490F-7510-18B0-6DEC58572D13}"/>
              </a:ext>
            </a:extLst>
          </p:cNvPr>
          <p:cNvSpPr txBox="1"/>
          <p:nvPr/>
        </p:nvSpPr>
        <p:spPr>
          <a:xfrm>
            <a:off x="6593835" y="2226411"/>
            <a:ext cx="159805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Medical &amp;</a:t>
            </a:r>
          </a:p>
          <a:p>
            <a:r>
              <a:rPr lang="en-AU" dirty="0"/>
              <a:t>Skin Cancer History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700DD0-AC96-E9CB-F983-DA0E1F58B84E}"/>
              </a:ext>
            </a:extLst>
          </p:cNvPr>
          <p:cNvSpPr txBox="1"/>
          <p:nvPr/>
        </p:nvSpPr>
        <p:spPr>
          <a:xfrm>
            <a:off x="6760341" y="3224645"/>
            <a:ext cx="1265045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Phenotypic factors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A17540-AD67-37E7-06C4-FC1519DF9971}"/>
              </a:ext>
            </a:extLst>
          </p:cNvPr>
          <p:cNvSpPr txBox="1"/>
          <p:nvPr/>
        </p:nvSpPr>
        <p:spPr>
          <a:xfrm>
            <a:off x="6562050" y="4162365"/>
            <a:ext cx="1574736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QoL/Anxiety/</a:t>
            </a:r>
          </a:p>
          <a:p>
            <a:r>
              <a:rPr lang="en-AU" dirty="0"/>
              <a:t>Acceptability &amp; Trust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24A957-A65A-AED9-3439-935D59E135FC}"/>
              </a:ext>
            </a:extLst>
          </p:cNvPr>
          <p:cNvSpPr txBox="1"/>
          <p:nvPr/>
        </p:nvSpPr>
        <p:spPr>
          <a:xfrm>
            <a:off x="6728437" y="5098205"/>
            <a:ext cx="126504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Melanoma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F70D04-7D19-3695-BF01-3FF84CAE2D9E}"/>
              </a:ext>
            </a:extLst>
          </p:cNvPr>
          <p:cNvSpPr txBox="1"/>
          <p:nvPr/>
        </p:nvSpPr>
        <p:spPr>
          <a:xfrm>
            <a:off x="6728436" y="5737129"/>
            <a:ext cx="126504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KCs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E89A5-BB15-DC4D-8601-D3BABAF07C8D}"/>
              </a:ext>
            </a:extLst>
          </p:cNvPr>
          <p:cNvSpPr txBox="1"/>
          <p:nvPr/>
        </p:nvSpPr>
        <p:spPr>
          <a:xfrm>
            <a:off x="6760340" y="6376053"/>
            <a:ext cx="126504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Benign lesions</a:t>
            </a: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0165363E-C070-CE7C-591B-C24AE9E8C410}"/>
              </a:ext>
            </a:extLst>
          </p:cNvPr>
          <p:cNvSpPr/>
          <p:nvPr/>
        </p:nvSpPr>
        <p:spPr>
          <a:xfrm>
            <a:off x="5945596" y="643054"/>
            <a:ext cx="591677" cy="3636715"/>
          </a:xfrm>
          <a:prstGeom prst="lef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DBFD0088-F733-18AF-584A-E11DA155084D}"/>
              </a:ext>
            </a:extLst>
          </p:cNvPr>
          <p:cNvSpPr/>
          <p:nvPr/>
        </p:nvSpPr>
        <p:spPr>
          <a:xfrm>
            <a:off x="6147633" y="5241029"/>
            <a:ext cx="389640" cy="1290210"/>
          </a:xfrm>
          <a:prstGeom prst="lef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E2A62E-E324-1349-F82D-E0696FB2BA46}"/>
              </a:ext>
            </a:extLst>
          </p:cNvPr>
          <p:cNvSpPr txBox="1"/>
          <p:nvPr/>
        </p:nvSpPr>
        <p:spPr>
          <a:xfrm>
            <a:off x="7038581" y="81862"/>
            <a:ext cx="6504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800" dirty="0" err="1"/>
              <a:t>RedCap</a:t>
            </a:r>
            <a:r>
              <a:rPr lang="en-AU" sz="1800" dirty="0"/>
              <a:t> data extraction workflow</a:t>
            </a:r>
          </a:p>
        </p:txBody>
      </p:sp>
    </p:spTree>
    <p:extLst>
      <p:ext uri="{BB962C8B-B14F-4D97-AF65-F5344CB8AC3E}">
        <p14:creationId xmlns:p14="http://schemas.microsoft.com/office/powerpoint/2010/main" val="4215694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4F454-244B-CDB3-3187-8BB7395C0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C718ACB-3C6C-C4C4-E301-36F0E5E3CABE}"/>
              </a:ext>
            </a:extLst>
          </p:cNvPr>
          <p:cNvSpPr/>
          <p:nvPr/>
        </p:nvSpPr>
        <p:spPr>
          <a:xfrm>
            <a:off x="4908009" y="277092"/>
            <a:ext cx="1615589" cy="54956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803EF-228C-D2CF-B2FB-D0DE7DC1B248}"/>
              </a:ext>
            </a:extLst>
          </p:cNvPr>
          <p:cNvSpPr txBox="1"/>
          <p:nvPr/>
        </p:nvSpPr>
        <p:spPr>
          <a:xfrm>
            <a:off x="2556258" y="1939260"/>
            <a:ext cx="1284630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sng"/>
            </a:lvl1pPr>
          </a:lstStyle>
          <a:p>
            <a:r>
              <a:rPr lang="en-AU" u="none" dirty="0"/>
              <a:t>Demographics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EF0CDF-55FD-8D6A-96DB-BC65317F59D1}"/>
              </a:ext>
            </a:extLst>
          </p:cNvPr>
          <p:cNvSpPr txBox="1"/>
          <p:nvPr/>
        </p:nvSpPr>
        <p:spPr>
          <a:xfrm>
            <a:off x="2475156" y="2746553"/>
            <a:ext cx="144683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Socioeconomic &amp; Lifestyle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15496-2F00-C088-5376-F831ACB90082}"/>
              </a:ext>
            </a:extLst>
          </p:cNvPr>
          <p:cNvSpPr txBox="1"/>
          <p:nvPr/>
        </p:nvSpPr>
        <p:spPr>
          <a:xfrm>
            <a:off x="2389751" y="4580926"/>
            <a:ext cx="159805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Medical &amp;</a:t>
            </a:r>
          </a:p>
          <a:p>
            <a:r>
              <a:rPr lang="en-AU" dirty="0"/>
              <a:t>Skin Cancer History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E9B221-5E6C-AF3D-10D8-7096D2A1DAED}"/>
              </a:ext>
            </a:extLst>
          </p:cNvPr>
          <p:cNvSpPr txBox="1"/>
          <p:nvPr/>
        </p:nvSpPr>
        <p:spPr>
          <a:xfrm>
            <a:off x="2556258" y="3685558"/>
            <a:ext cx="1265045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Phenotypic factors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5672F0-A83F-07B3-58D2-D8E4303B3B3F}"/>
              </a:ext>
            </a:extLst>
          </p:cNvPr>
          <p:cNvSpPr txBox="1"/>
          <p:nvPr/>
        </p:nvSpPr>
        <p:spPr>
          <a:xfrm>
            <a:off x="2452054" y="5546265"/>
            <a:ext cx="1574736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QoL/Anxiety/</a:t>
            </a:r>
          </a:p>
          <a:p>
            <a:r>
              <a:rPr lang="en-AU" dirty="0"/>
              <a:t>Acceptability &amp; Trust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015F5E-25BF-0C7A-3F80-B45CBFA5438B}"/>
              </a:ext>
            </a:extLst>
          </p:cNvPr>
          <p:cNvSpPr txBox="1"/>
          <p:nvPr/>
        </p:nvSpPr>
        <p:spPr>
          <a:xfrm>
            <a:off x="7661310" y="2692906"/>
            <a:ext cx="126504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Melanoma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2894D5-E3D5-A329-6D75-1C408B28BEFD}"/>
              </a:ext>
            </a:extLst>
          </p:cNvPr>
          <p:cNvSpPr txBox="1"/>
          <p:nvPr/>
        </p:nvSpPr>
        <p:spPr>
          <a:xfrm>
            <a:off x="7661309" y="3331830"/>
            <a:ext cx="126504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KCs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1E6E9B-E3E5-3DDF-B23B-966EBE44D144}"/>
              </a:ext>
            </a:extLst>
          </p:cNvPr>
          <p:cNvSpPr txBox="1"/>
          <p:nvPr/>
        </p:nvSpPr>
        <p:spPr>
          <a:xfrm>
            <a:off x="7693213" y="3970754"/>
            <a:ext cx="126504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u="none"/>
            </a:lvl1pPr>
          </a:lstStyle>
          <a:p>
            <a:r>
              <a:rPr lang="en-AU" dirty="0"/>
              <a:t>Benign lesions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432CA-65E5-339F-8076-9974D0319CAF}"/>
              </a:ext>
            </a:extLst>
          </p:cNvPr>
          <p:cNvSpPr txBox="1"/>
          <p:nvPr/>
        </p:nvSpPr>
        <p:spPr>
          <a:xfrm>
            <a:off x="5033290" y="1461512"/>
            <a:ext cx="1332046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u="sng" dirty="0"/>
              <a:t>Naevus data</a:t>
            </a:r>
          </a:p>
          <a:p>
            <a:pPr algn="ctr"/>
            <a:r>
              <a:rPr lang="en-AU" sz="1200" dirty="0"/>
              <a:t>Naevus counts</a:t>
            </a:r>
          </a:p>
          <a:p>
            <a:pPr algn="ctr"/>
            <a:r>
              <a:rPr lang="en-AU" sz="1200" dirty="0"/>
              <a:t>Naevus size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F3C48-4EEC-E50C-A9CB-06CF9042D5A0}"/>
              </a:ext>
            </a:extLst>
          </p:cNvPr>
          <p:cNvSpPr txBox="1"/>
          <p:nvPr/>
        </p:nvSpPr>
        <p:spPr>
          <a:xfrm>
            <a:off x="5033290" y="3884904"/>
            <a:ext cx="1332046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Photodamage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8DF3D3-F75E-1353-F912-8A57626C4F9E}"/>
              </a:ext>
            </a:extLst>
          </p:cNvPr>
          <p:cNvSpPr txBox="1"/>
          <p:nvPr/>
        </p:nvSpPr>
        <p:spPr>
          <a:xfrm>
            <a:off x="5033291" y="2721079"/>
            <a:ext cx="1332046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Spatial distribution </a:t>
            </a:r>
          </a:p>
          <a:p>
            <a:pPr algn="ctr"/>
            <a:r>
              <a:rPr lang="en-AU" sz="1200" dirty="0"/>
              <a:t>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46A45-1260-882A-7161-40518810B827}"/>
              </a:ext>
            </a:extLst>
          </p:cNvPr>
          <p:cNvSpPr txBox="1"/>
          <p:nvPr/>
        </p:nvSpPr>
        <p:spPr>
          <a:xfrm>
            <a:off x="5356563" y="4811758"/>
            <a:ext cx="73943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Skin </a:t>
            </a:r>
          </a:p>
          <a:p>
            <a:pPr algn="ctr"/>
            <a:r>
              <a:rPr lang="en-AU" sz="1200" dirty="0"/>
              <a:t>colour</a:t>
            </a:r>
          </a:p>
          <a:p>
            <a:pPr algn="ctr"/>
            <a:r>
              <a:rPr lang="en-AU" sz="1200" dirty="0"/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A92583-D8A7-0FF2-94CF-47C25071FBD0}"/>
              </a:ext>
            </a:extLst>
          </p:cNvPr>
          <p:cNvSpPr txBox="1"/>
          <p:nvPr/>
        </p:nvSpPr>
        <p:spPr>
          <a:xfrm>
            <a:off x="10127873" y="2755806"/>
            <a:ext cx="1860927" cy="14919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Cancer outcomes, anatomical distribution and diagnostic efficiency </a:t>
            </a:r>
            <a:endParaRPr lang="en-AU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AE5E97-A213-60D8-185B-1CD9A0133077}"/>
              </a:ext>
            </a:extLst>
          </p:cNvPr>
          <p:cNvCxnSpPr/>
          <p:nvPr/>
        </p:nvCxnSpPr>
        <p:spPr>
          <a:xfrm>
            <a:off x="9051636" y="2831405"/>
            <a:ext cx="969819" cy="376813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7E25A4-AD5A-5BB8-1663-988EC0EC40FA}"/>
              </a:ext>
            </a:extLst>
          </p:cNvPr>
          <p:cNvCxnSpPr>
            <a:cxnSpLocks/>
          </p:cNvCxnSpPr>
          <p:nvPr/>
        </p:nvCxnSpPr>
        <p:spPr>
          <a:xfrm>
            <a:off x="9126150" y="3501779"/>
            <a:ext cx="895305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Right Brace 38">
            <a:extLst>
              <a:ext uri="{FF2B5EF4-FFF2-40B4-BE49-F238E27FC236}">
                <a16:creationId xmlns:a16="http://schemas.microsoft.com/office/drawing/2014/main" id="{0C0A9BA7-B73C-D4B1-01F4-D2D979A3BBDD}"/>
              </a:ext>
            </a:extLst>
          </p:cNvPr>
          <p:cNvSpPr/>
          <p:nvPr/>
        </p:nvSpPr>
        <p:spPr>
          <a:xfrm>
            <a:off x="4026790" y="2077759"/>
            <a:ext cx="881219" cy="3694968"/>
          </a:xfrm>
          <a:prstGeom prst="rightBrace">
            <a:avLst>
              <a:gd name="adj1" fmla="val 8333"/>
              <a:gd name="adj2" fmla="val 72247"/>
            </a:avLst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68EFC6-C075-3DF2-65E2-80B4C0CB93C6}"/>
              </a:ext>
            </a:extLst>
          </p:cNvPr>
          <p:cNvCxnSpPr>
            <a:cxnSpLocks/>
          </p:cNvCxnSpPr>
          <p:nvPr/>
        </p:nvCxnSpPr>
        <p:spPr>
          <a:xfrm flipV="1">
            <a:off x="4992349" y="4200868"/>
            <a:ext cx="5029106" cy="515493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4D3D092-26AA-7BA1-2EE6-E6F0D94F84A1}"/>
              </a:ext>
            </a:extLst>
          </p:cNvPr>
          <p:cNvSpPr txBox="1"/>
          <p:nvPr/>
        </p:nvSpPr>
        <p:spPr>
          <a:xfrm>
            <a:off x="7661309" y="378804"/>
            <a:ext cx="1860927" cy="9256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Unsupervised clustering of phenotypes</a:t>
            </a:r>
            <a:endParaRPr lang="en-AU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86B7C6-D683-2A52-1916-62BE444B9C68}"/>
              </a:ext>
            </a:extLst>
          </p:cNvPr>
          <p:cNvCxnSpPr>
            <a:cxnSpLocks/>
          </p:cNvCxnSpPr>
          <p:nvPr/>
        </p:nvCxnSpPr>
        <p:spPr>
          <a:xfrm flipV="1">
            <a:off x="6365336" y="913939"/>
            <a:ext cx="1194775" cy="968142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CD80842-A270-A67F-16DA-99CE2702C6F7}"/>
              </a:ext>
            </a:extLst>
          </p:cNvPr>
          <p:cNvCxnSpPr>
            <a:cxnSpLocks/>
          </p:cNvCxnSpPr>
          <p:nvPr/>
        </p:nvCxnSpPr>
        <p:spPr>
          <a:xfrm flipV="1">
            <a:off x="6380066" y="913939"/>
            <a:ext cx="1181495" cy="32272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46FCABC-D358-F7CF-0DAF-838F04D80464}"/>
              </a:ext>
            </a:extLst>
          </p:cNvPr>
          <p:cNvSpPr txBox="1"/>
          <p:nvPr/>
        </p:nvSpPr>
        <p:spPr>
          <a:xfrm>
            <a:off x="4637495" y="396627"/>
            <a:ext cx="2177572" cy="711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Deep image phenotyping</a:t>
            </a:r>
            <a:endParaRPr lang="en-A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64848D6-9871-176E-9962-FC3237B8602B}"/>
              </a:ext>
            </a:extLst>
          </p:cNvPr>
          <p:cNvCxnSpPr>
            <a:cxnSpLocks/>
          </p:cNvCxnSpPr>
          <p:nvPr/>
        </p:nvCxnSpPr>
        <p:spPr>
          <a:xfrm flipV="1">
            <a:off x="9088892" y="3796145"/>
            <a:ext cx="932563" cy="313108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71D2A1C-4DDB-CF17-67B7-A3B5FD119BC4}"/>
              </a:ext>
            </a:extLst>
          </p:cNvPr>
          <p:cNvSpPr txBox="1"/>
          <p:nvPr/>
        </p:nvSpPr>
        <p:spPr>
          <a:xfrm>
            <a:off x="-2356866" y="211961"/>
            <a:ext cx="6504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800" dirty="0"/>
              <a:t>Analysis plan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487887-1C3B-BB36-6111-DBD47BC0A598}"/>
              </a:ext>
            </a:extLst>
          </p:cNvPr>
          <p:cNvSpPr txBox="1"/>
          <p:nvPr/>
        </p:nvSpPr>
        <p:spPr>
          <a:xfrm>
            <a:off x="231280" y="3499077"/>
            <a:ext cx="1127575" cy="359329"/>
          </a:xfrm>
          <a:prstGeom prst="rect">
            <a:avLst/>
          </a:prstGeom>
          <a:solidFill>
            <a:srgbClr val="EFF1D1"/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Table 1</a:t>
            </a:r>
            <a:endParaRPr lang="en-AU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3E190476-0F91-CFCB-8233-6C2B95A46D10}"/>
              </a:ext>
            </a:extLst>
          </p:cNvPr>
          <p:cNvSpPr/>
          <p:nvPr/>
        </p:nvSpPr>
        <p:spPr>
          <a:xfrm rot="10800000">
            <a:off x="1484138" y="2068906"/>
            <a:ext cx="881219" cy="3694968"/>
          </a:xfrm>
          <a:prstGeom prst="rightBrace">
            <a:avLst>
              <a:gd name="adj1" fmla="val 8333"/>
              <a:gd name="adj2" fmla="val 55919"/>
            </a:avLst>
          </a:prstGeom>
          <a:ln>
            <a:solidFill>
              <a:srgbClr val="FFFF00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558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277</Words>
  <Application>Microsoft Office PowerPoint</Application>
  <PresentationFormat>Widescreen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Dilki Jayasinghe</dc:creator>
  <cp:lastModifiedBy>Dilki Jayasinghe</cp:lastModifiedBy>
  <cp:revision>5</cp:revision>
  <cp:lastPrinted>2026-01-28T00:48:58Z</cp:lastPrinted>
  <dcterms:created xsi:type="dcterms:W3CDTF">2026-01-27T22:42:25Z</dcterms:created>
  <dcterms:modified xsi:type="dcterms:W3CDTF">2026-01-28T04:35:14Z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2026-01-28T00:32:41Z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ed14954b-bc0d-4d48-85f5-c9e9573f15e1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